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54F662-C7B5-D62C-63C1-AB90E9634709}" v="764" dt="2026-09-04T05:17:14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086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01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05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0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08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9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56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26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041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30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8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17B11-CCD8-4EEC-AD7E-F410C1454966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14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30181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altLang="zh-CN" sz="4800" dirty="0">
                <a:latin typeface="Times New Roman"/>
                <a:ea typeface="+mj-lt"/>
                <a:cs typeface="Times New Roman"/>
              </a:rPr>
              <a:t>Inv</a:t>
            </a:r>
            <a:r>
              <a:rPr lang="zh-CN" sz="4800">
                <a:latin typeface="Times New Roman"/>
                <a:ea typeface="+mj-lt"/>
                <a:cs typeface="Times New Roman"/>
              </a:rPr>
              <a:t>estigatin</a:t>
            </a:r>
            <a:r>
              <a:rPr lang="en-US" altLang="zh-CN" sz="4800" dirty="0">
                <a:latin typeface="Times New Roman"/>
                <a:ea typeface="+mj-lt"/>
                <a:cs typeface="Times New Roman"/>
              </a:rPr>
              <a:t>g</a:t>
            </a:r>
            <a:r>
              <a:rPr lang="zh-CN" altLang="en-US" sz="4800">
                <a:latin typeface="Times New Roman"/>
                <a:ea typeface="+mj-lt"/>
                <a:cs typeface="Times New Roman"/>
              </a:rPr>
              <a:t> </a:t>
            </a:r>
            <a:r>
              <a:rPr lang="zh-CN" sz="4800">
                <a:latin typeface="Times New Roman"/>
                <a:ea typeface="+mj-lt"/>
                <a:cs typeface="Times New Roman"/>
              </a:rPr>
              <a:t>a</a:t>
            </a:r>
            <a:r>
              <a:rPr lang="zh-CN" altLang="en-US" sz="4800">
                <a:latin typeface="Times New Roman"/>
                <a:ea typeface="+mj-lt"/>
                <a:cs typeface="Times New Roman"/>
              </a:rPr>
              <a:t> </a:t>
            </a:r>
            <a:r>
              <a:rPr lang="en-US" altLang="zh-CN" sz="4800" dirty="0">
                <a:latin typeface="Times New Roman"/>
                <a:ea typeface="+mj-lt"/>
                <a:cs typeface="Times New Roman"/>
              </a:rPr>
              <a:t>R</a:t>
            </a:r>
            <a:r>
              <a:rPr lang="zh-CN" sz="4800">
                <a:latin typeface="Times New Roman"/>
                <a:ea typeface="+mj-lt"/>
                <a:cs typeface="Times New Roman"/>
              </a:rPr>
              <a:t>ecurring</a:t>
            </a:r>
            <a:r>
              <a:rPr lang="zh-CN" altLang="en-US" sz="4800">
                <a:latin typeface="Times New Roman"/>
                <a:ea typeface="+mj-lt"/>
                <a:cs typeface="Times New Roman"/>
              </a:rPr>
              <a:t> </a:t>
            </a:r>
            <a:r>
              <a:rPr lang="en-US" altLang="zh-CN" sz="4800" dirty="0">
                <a:latin typeface="Times New Roman"/>
                <a:ea typeface="+mj-lt"/>
                <a:cs typeface="Times New Roman"/>
              </a:rPr>
              <a:t>Click-Through Rate</a:t>
            </a:r>
            <a:r>
              <a:rPr lang="zh-CN" altLang="en-US" sz="4800" dirty="0">
                <a:latin typeface="Times New Roman"/>
                <a:ea typeface="+mj-lt"/>
                <a:cs typeface="Times New Roman"/>
              </a:rPr>
              <a:t> </a:t>
            </a:r>
            <a:r>
              <a:rPr lang="en-US" altLang="zh-CN" sz="4800" dirty="0">
                <a:latin typeface="Times New Roman"/>
                <a:ea typeface="+mj-lt"/>
                <a:cs typeface="Times New Roman"/>
              </a:rPr>
              <a:t>Ano</a:t>
            </a:r>
            <a:r>
              <a:rPr lang="zh-CN" sz="4800">
                <a:latin typeface="Times New Roman"/>
                <a:ea typeface="+mj-lt"/>
                <a:cs typeface="Times New Roman"/>
              </a:rPr>
              <a:t>maly in Xiaohongshu Recommendations</a:t>
            </a:r>
            <a:endParaRPr lang="zh-CN" altLang="en-US" sz="4800" dirty="0">
              <a:latin typeface="Times New Roman"/>
              <a:ea typeface="+mj-lt"/>
              <a:cs typeface="Times New Roman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98" y="4941311"/>
            <a:ext cx="2078183" cy="4723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zh-CN" altLang="en-US">
                <a:latin typeface="Times New Roman"/>
                <a:ea typeface="等线"/>
                <a:cs typeface="Times New Roman"/>
              </a:rPr>
              <a:t>Weiran Hu</a:t>
            </a:r>
            <a:endParaRPr lang="zh-CN" altLang="en-US">
              <a:latin typeface="Times New Roman"/>
              <a:cs typeface="Times New Roman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5DE15E-413D-BFF8-9307-72BAB7FFAABF}"/>
              </a:ext>
            </a:extLst>
          </p:cNvPr>
          <p:cNvSpPr txBox="1"/>
          <p:nvPr/>
        </p:nvSpPr>
        <p:spPr>
          <a:xfrm>
            <a:off x="1525332" y="3893187"/>
            <a:ext cx="8179065" cy="523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sz="2800">
                <a:latin typeface="Times New Roman"/>
                <a:ea typeface="+mn-lt"/>
                <a:cs typeface="Times New Roman"/>
              </a:rPr>
              <a:t>From Commercial Exposure to Candidate Selection</a:t>
            </a:r>
          </a:p>
        </p:txBody>
      </p:sp>
    </p:spTree>
    <p:extLst>
      <p:ext uri="{BB962C8B-B14F-4D97-AF65-F5344CB8AC3E}">
        <p14:creationId xmlns:p14="http://schemas.microsoft.com/office/powerpoint/2010/main" val="70308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7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BC6568-32B7-D619-DC43-8470DB7DC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 anchor="t">
            <a:normAutofit/>
          </a:bodyPr>
          <a:lstStyle/>
          <a:p>
            <a:r>
              <a:rPr lang="en-US" sz="2000" dirty="0">
                <a:latin typeface="Times New Roman"/>
                <a:ea typeface="+mn-lt"/>
                <a:cs typeface="Times New Roman"/>
              </a:rPr>
              <a:t>CTR generally declines with rank, but position 6 shows an unusually sharp dip. </a:t>
            </a:r>
            <a:endParaRPr lang="zh-CN" sz="2000" dirty="0">
              <a:latin typeface="Aptos"/>
              <a:ea typeface="等线"/>
              <a:cs typeface="Times New Roman"/>
            </a:endParaRPr>
          </a:p>
          <a:p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 dirty="0">
                <a:ea typeface="+mn-lt"/>
                <a:cs typeface="+mn-lt"/>
              </a:rPr>
              <a:t>"We guess these positions have higher probabilities of exposing commercial notes." (Chen et al., 2025, p. 3675)</a:t>
            </a:r>
            <a:endParaRPr lang="en-US" sz="2000" b="1" dirty="0"/>
          </a:p>
          <a:p>
            <a:endParaRPr lang="en-US" sz="2000">
              <a:latin typeface="Times New Roman"/>
              <a:cs typeface="Times New Roman"/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6EAFA7A-F118-0577-25C5-B36400E30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1912216"/>
            <a:ext cx="4737650" cy="3055783"/>
          </a:xfrm>
          <a:prstGeom prst="rect">
            <a:avLst/>
          </a:prstGeom>
        </p:spPr>
      </p:pic>
      <p:sp>
        <p:nvSpPr>
          <p:cNvPr id="6" name="箭头: 上 5">
            <a:extLst>
              <a:ext uri="{FF2B5EF4-FFF2-40B4-BE49-F238E27FC236}">
                <a16:creationId xmlns:a16="http://schemas.microsoft.com/office/drawing/2014/main" id="{47A60601-5698-8FC2-5290-7E67B6A44B8B}"/>
              </a:ext>
            </a:extLst>
          </p:cNvPr>
          <p:cNvSpPr/>
          <p:nvPr/>
        </p:nvSpPr>
        <p:spPr>
          <a:xfrm>
            <a:off x="8421413" y="4841327"/>
            <a:ext cx="157655" cy="45982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67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2FD6A92-9796-7AE8-7569-E9232977B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>
                <a:latin typeface="Times New Roman"/>
                <a:ea typeface="+mj-lt"/>
                <a:cs typeface="Times New Roman"/>
              </a:rPr>
              <a:t>Initial Evidence Supports the Commercial Hypothesis </a:t>
            </a:r>
            <a:endParaRPr lang="zh-CN" sz="3200" dirty="0">
              <a:latin typeface="Times New Roman"/>
              <a:ea typeface="等线 Light"/>
              <a:cs typeface="Times New Roman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1DA9AE-A037-6BA7-66D3-0161664E3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1700">
                <a:latin typeface="Times New Roman"/>
                <a:ea typeface="+mn-lt"/>
                <a:cs typeface="Times New Roman"/>
              </a:rPr>
              <a:t>The</a:t>
            </a:r>
            <a:r>
              <a:rPr lang="zh-CN" altLang="en-US" sz="170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1700">
                <a:latin typeface="Times New Roman"/>
                <a:ea typeface="+mn-lt"/>
                <a:cs typeface="Times New Roman"/>
              </a:rPr>
              <a:t>Qilin</a:t>
            </a:r>
            <a:r>
              <a:rPr lang="zh-CN" altLang="en-US" sz="170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1700">
                <a:latin typeface="Times New Roman"/>
                <a:ea typeface="等线"/>
                <a:cs typeface="Times New Roman"/>
              </a:rPr>
              <a:t>notes</a:t>
            </a:r>
            <a:r>
              <a:rPr lang="zh-CN" altLang="en-US" sz="170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1700">
                <a:latin typeface="Times New Roman"/>
                <a:ea typeface="+mn-lt"/>
                <a:cs typeface="Times New Roman"/>
              </a:rPr>
              <a:t>metadata</a:t>
            </a:r>
            <a:r>
              <a:rPr lang="zh-CN" altLang="en-US" sz="170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1700">
                <a:latin typeface="Times New Roman"/>
                <a:ea typeface="+mn-lt"/>
                <a:cs typeface="Times New Roman"/>
              </a:rPr>
              <a:t>includes</a:t>
            </a:r>
            <a:r>
              <a:rPr lang="zh-CN" altLang="en-US" sz="170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1700">
                <a:latin typeface="Times New Roman"/>
                <a:ea typeface="+mn-lt"/>
                <a:cs typeface="Times New Roman"/>
              </a:rPr>
              <a:t>a</a:t>
            </a:r>
            <a:r>
              <a:rPr lang="zh-CN" altLang="en-US" sz="1700">
                <a:latin typeface="Times New Roman"/>
                <a:ea typeface="+mn-lt"/>
                <a:cs typeface="Times New Roman"/>
              </a:rPr>
              <a:t> </a:t>
            </a:r>
            <a:r>
              <a:rPr lang="zh-CN" sz="1700">
                <a:latin typeface="Times New Roman"/>
                <a:ea typeface="等线"/>
                <a:cs typeface="Times New Roman"/>
              </a:rPr>
              <a:t>commercial_flag</a:t>
            </a:r>
            <a:r>
              <a:rPr lang="zh-CN" sz="1700">
                <a:latin typeface="Times New Roman"/>
                <a:ea typeface="+mn-lt"/>
                <a:cs typeface="Times New Roman"/>
              </a:rPr>
              <a:t> field. </a:t>
            </a:r>
            <a:endParaRPr lang="zh-CN" sz="1700">
              <a:latin typeface="Times New Roman"/>
              <a:ea typeface="等线"/>
              <a:cs typeface="Times New Roman"/>
            </a:endParaRPr>
          </a:p>
          <a:p>
            <a:r>
              <a:rPr lang="zh-CN" sz="1700">
                <a:latin typeface="Times New Roman"/>
                <a:ea typeface="+mn-lt"/>
                <a:cs typeface="Times New Roman"/>
              </a:rPr>
              <a:t>I classify notes as: </a:t>
            </a:r>
            <a:endParaRPr lang="zh-CN" sz="1700">
              <a:latin typeface="Times New Roman"/>
              <a:ea typeface="等线"/>
              <a:cs typeface="Times New Roman"/>
            </a:endParaRPr>
          </a:p>
          <a:p>
            <a:r>
              <a:rPr lang="zh-CN" sz="1700" b="1">
                <a:latin typeface="Times New Roman"/>
                <a:ea typeface="+mn-lt"/>
                <a:cs typeface="Times New Roman"/>
              </a:rPr>
              <a:t>Commercial content:</a:t>
            </a:r>
            <a:r>
              <a:rPr lang="zh-CN" sz="1700">
                <a:latin typeface="Times New Roman"/>
                <a:ea typeface="+mn-lt"/>
                <a:cs typeface="Times New Roman"/>
              </a:rPr>
              <a:t> </a:t>
            </a:r>
            <a:r>
              <a:rPr lang="zh-CN" sz="1700">
                <a:latin typeface="Times New Roman"/>
                <a:ea typeface="等线"/>
                <a:cs typeface="Times New Roman"/>
              </a:rPr>
              <a:t>commercial_flag ≠ 0</a:t>
            </a:r>
            <a:r>
              <a:rPr lang="zh-CN" sz="1700">
                <a:latin typeface="Times New Roman"/>
                <a:ea typeface="+mn-lt"/>
                <a:cs typeface="Times New Roman"/>
              </a:rPr>
              <a:t> </a:t>
            </a:r>
            <a:endParaRPr lang="zh-CN" sz="1700">
              <a:latin typeface="Times New Roman"/>
              <a:ea typeface="等线"/>
              <a:cs typeface="Times New Roman"/>
            </a:endParaRPr>
          </a:p>
          <a:p>
            <a:r>
              <a:rPr lang="zh-CN" sz="1700" b="1">
                <a:latin typeface="Times New Roman"/>
                <a:ea typeface="+mn-lt"/>
                <a:cs typeface="Times New Roman"/>
              </a:rPr>
              <a:t>Non-commercial content:</a:t>
            </a:r>
            <a:r>
              <a:rPr lang="zh-CN" sz="1700">
                <a:latin typeface="Times New Roman"/>
                <a:ea typeface="+mn-lt"/>
                <a:cs typeface="Times New Roman"/>
              </a:rPr>
              <a:t> </a:t>
            </a:r>
            <a:r>
              <a:rPr lang="zh-CN" sz="1700">
                <a:latin typeface="Times New Roman"/>
                <a:ea typeface="等线"/>
                <a:cs typeface="Times New Roman"/>
              </a:rPr>
              <a:t>commercial_flag = 0</a:t>
            </a:r>
            <a:r>
              <a:rPr lang="zh-CN" sz="1700">
                <a:latin typeface="Times New Roman"/>
                <a:ea typeface="+mn-lt"/>
                <a:cs typeface="Times New Roman"/>
              </a:rPr>
              <a:t> </a:t>
            </a:r>
            <a:endParaRPr lang="zh-CN" sz="1700">
              <a:latin typeface="Times New Roman"/>
              <a:ea typeface="等线"/>
              <a:cs typeface="Times New Roman"/>
            </a:endParaRPr>
          </a:p>
          <a:p>
            <a:r>
              <a:rPr lang="zh-CN" sz="1700">
                <a:latin typeface="Times New Roman"/>
                <a:ea typeface="+mn-lt"/>
                <a:cs typeface="Times New Roman"/>
              </a:rPr>
              <a:t>Commercial content is strongly concentrated at </a:t>
            </a:r>
            <a:r>
              <a:rPr lang="zh-CN" sz="1700" b="1">
                <a:latin typeface="Times New Roman"/>
                <a:ea typeface="+mn-lt"/>
                <a:cs typeface="Times New Roman"/>
              </a:rPr>
              <a:t>position 6</a:t>
            </a:r>
            <a:r>
              <a:rPr lang="zh-CN" sz="1700">
                <a:latin typeface="Times New Roman"/>
                <a:ea typeface="+mn-lt"/>
                <a:cs typeface="Times New Roman"/>
              </a:rPr>
              <a:t>. </a:t>
            </a:r>
            <a:endParaRPr lang="zh-CN" sz="1700">
              <a:latin typeface="Times New Roman"/>
              <a:ea typeface="等线"/>
              <a:cs typeface="Times New Roman"/>
            </a:endParaRPr>
          </a:p>
          <a:p>
            <a:r>
              <a:rPr lang="zh-CN" sz="1700">
                <a:latin typeface="Times New Roman"/>
                <a:ea typeface="+mn-lt"/>
                <a:cs typeface="Times New Roman"/>
              </a:rPr>
              <a:t>More broadly, commercial-content spikes appear repeatedly at positions </a:t>
            </a:r>
            <a:r>
              <a:rPr lang="zh-CN" sz="1700" b="1">
                <a:latin typeface="Times New Roman"/>
                <a:ea typeface="+mn-lt"/>
                <a:cs typeface="Times New Roman"/>
              </a:rPr>
              <a:t>6, 13, 20, 27, …</a:t>
            </a:r>
            <a:r>
              <a:rPr lang="zh-CN" sz="1700">
                <a:latin typeface="Times New Roman"/>
                <a:ea typeface="+mn-lt"/>
                <a:cs typeface="Times New Roman"/>
              </a:rPr>
              <a:t>, suggesting a recurring placement pattern.</a:t>
            </a:r>
            <a:endParaRPr lang="zh-CN" sz="1700">
              <a:latin typeface="Times New Roman"/>
              <a:ea typeface="等线"/>
              <a:cs typeface="Times New Roman"/>
            </a:endParaRPr>
          </a:p>
          <a:p>
            <a:endParaRPr lang="zh-CN" altLang="en-US" sz="1700">
              <a:latin typeface="Times New Roman"/>
              <a:ea typeface="等线"/>
              <a:cs typeface="Times New Roman"/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DCAA3B5-F72B-1941-B5C1-502EBB374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442" y="1824347"/>
            <a:ext cx="5201023" cy="2795549"/>
          </a:xfrm>
          <a:prstGeom prst="rect">
            <a:avLst/>
          </a:prstGeom>
        </p:spPr>
      </p:pic>
      <p:sp>
        <p:nvSpPr>
          <p:cNvPr id="25" name="Rectangle 1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0321CF-992E-493D-8928-61CF9F4C7D99}"/>
              </a:ext>
            </a:extLst>
          </p:cNvPr>
          <p:cNvSpPr txBox="1"/>
          <p:nvPr/>
        </p:nvSpPr>
        <p:spPr>
          <a:xfrm>
            <a:off x="8909538" y="4617589"/>
            <a:ext cx="26702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sz="1200">
                <a:latin typeface="Times New Roman"/>
                <a:ea typeface="+mn-lt"/>
                <a:cs typeface="Times New Roman"/>
              </a:rPr>
              <a:t>Source: Qilin dataset / Chen et al., 2025</a:t>
            </a:r>
            <a:endParaRPr lang="zh-CN" sz="1200">
              <a:latin typeface="Times New Roman"/>
              <a:ea typeface="等线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6489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29CC7D6-7078-9ED3-1B50-316CC1521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481" y="853111"/>
            <a:ext cx="3411682" cy="1724844"/>
          </a:xfrm>
        </p:spPr>
        <p:txBody>
          <a:bodyPr anchor="b">
            <a:normAutofit/>
          </a:bodyPr>
          <a:lstStyle/>
          <a:p>
            <a:pPr marL="228600" indent="-228600">
              <a:spcBef>
                <a:spcPts val="1000"/>
              </a:spcBef>
            </a:pPr>
            <a:r>
              <a:rPr lang="zh-CN" sz="3200">
                <a:latin typeface="Times New Roman"/>
                <a:ea typeface="等线 Light"/>
                <a:cs typeface="Times New Roman"/>
              </a:rPr>
              <a:t>Recurring Seven</a:t>
            </a:r>
            <a:r>
              <a:rPr lang="zh-CN" altLang="en-US" sz="3200">
                <a:latin typeface="Times New Roman"/>
                <a:ea typeface="等线 Light"/>
                <a:cs typeface="Times New Roman"/>
              </a:rPr>
              <a:t> </a:t>
            </a:r>
            <a:r>
              <a:rPr lang="zh-CN" sz="3200">
                <a:latin typeface="Times New Roman"/>
                <a:ea typeface="等线 Light"/>
                <a:cs typeface="Times New Roman"/>
              </a:rPr>
              <a:t>Position Structure</a:t>
            </a:r>
            <a:endParaRPr lang="en-US" altLang="zh-CN" sz="3200">
              <a:latin typeface="Times New Roman"/>
              <a:ea typeface="等线 Light"/>
              <a:cs typeface="Times New Roman"/>
            </a:endParaRPr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F20B1E-C69B-30D4-0E4B-2750684A1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3846" y="4931571"/>
            <a:ext cx="4133272" cy="14941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sz="2000">
                <a:latin typeface="Times New Roman"/>
                <a:ea typeface="+mn-lt"/>
                <a:cs typeface="Times New Roman"/>
              </a:rPr>
              <a:t>Block 1: 1, 2, 3, 4, 5, </a:t>
            </a:r>
            <a:r>
              <a:rPr lang="zh-CN" sz="2000" b="1">
                <a:highlight>
                  <a:srgbClr val="FFFF00"/>
                </a:highlight>
                <a:latin typeface="Times New Roman"/>
                <a:ea typeface="+mn-lt"/>
                <a:cs typeface="Times New Roman"/>
              </a:rPr>
              <a:t>6</a:t>
            </a:r>
            <a:r>
              <a:rPr lang="zh-CN" sz="2000" b="1">
                <a:latin typeface="Times New Roman"/>
                <a:ea typeface="+mn-lt"/>
                <a:cs typeface="Times New Roman"/>
              </a:rPr>
              <a:t> </a:t>
            </a:r>
            <a:r>
              <a:rPr lang="zh-CN" sz="2000">
                <a:latin typeface="Times New Roman"/>
                <a:ea typeface="+mn-lt"/>
                <a:cs typeface="Times New Roman"/>
              </a:rPr>
              <a:t>, 7 </a:t>
            </a:r>
            <a:endParaRPr lang="zh-CN" altLang="en-US" sz="2000">
              <a:latin typeface="Times New Roman"/>
              <a:ea typeface="等线" panose="02010600030101010101" pitchFamily="2" charset="-122"/>
              <a:cs typeface="Times New Roman"/>
            </a:endParaRPr>
          </a:p>
          <a:p>
            <a:r>
              <a:rPr lang="zh-CN" sz="2000">
                <a:latin typeface="Times New Roman"/>
                <a:ea typeface="+mn-lt"/>
                <a:cs typeface="Times New Roman"/>
              </a:rPr>
              <a:t>Block 2: 8, 9, 10, 11, 12, </a:t>
            </a:r>
            <a:r>
              <a:rPr lang="zh-CN" sz="2000" b="1">
                <a:highlight>
                  <a:srgbClr val="FFFF00"/>
                </a:highlight>
                <a:latin typeface="Times New Roman"/>
                <a:ea typeface="+mn-lt"/>
                <a:cs typeface="Times New Roman"/>
              </a:rPr>
              <a:t>13</a:t>
            </a:r>
            <a:r>
              <a:rPr lang="zh-CN" sz="2000">
                <a:latin typeface="Times New Roman"/>
                <a:ea typeface="+mn-lt"/>
                <a:cs typeface="Times New Roman"/>
              </a:rPr>
              <a:t> , 14 </a:t>
            </a:r>
            <a:endParaRPr lang="zh-CN" altLang="en-US" sz="2000" dirty="0">
              <a:latin typeface="Times New Roman"/>
              <a:ea typeface="等线"/>
              <a:cs typeface="Times New Roman"/>
            </a:endParaRPr>
          </a:p>
          <a:p>
            <a:r>
              <a:rPr lang="zh-CN" sz="2000">
                <a:latin typeface="Times New Roman"/>
                <a:ea typeface="+mn-lt"/>
                <a:cs typeface="Times New Roman"/>
              </a:rPr>
              <a:t>Block 3: 15, 16, 17, 18, 19, </a:t>
            </a:r>
            <a:r>
              <a:rPr lang="zh-CN" sz="2000" b="1">
                <a:highlight>
                  <a:srgbClr val="FFFF00"/>
                </a:highlight>
                <a:latin typeface="Times New Roman"/>
                <a:ea typeface="+mn-lt"/>
                <a:cs typeface="Times New Roman"/>
              </a:rPr>
              <a:t>20</a:t>
            </a:r>
            <a:r>
              <a:rPr lang="zh-CN" sz="2000">
                <a:latin typeface="Times New Roman"/>
                <a:ea typeface="+mn-lt"/>
                <a:cs typeface="Times New Roman"/>
              </a:rPr>
              <a:t> , 21 </a:t>
            </a:r>
            <a:endParaRPr lang="zh-CN" sz="2000">
              <a:latin typeface="Times New Roman"/>
              <a:ea typeface="等线"/>
              <a:cs typeface="Times New Roman"/>
            </a:endParaRPr>
          </a:p>
          <a:p>
            <a:endParaRPr lang="zh-CN" altLang="en-US" sz="2000" dirty="0">
              <a:latin typeface="Times New Roman"/>
              <a:ea typeface="等线"/>
              <a:cs typeface="Times New Roman"/>
            </a:endParaRPr>
          </a:p>
        </p:txBody>
      </p:sp>
      <p:pic>
        <p:nvPicPr>
          <p:cNvPr id="5" name="内容占位符 3" descr="图表, 折线图, 直方图&#10;&#10;AI 生成的内容可能不正确。">
            <a:extLst>
              <a:ext uri="{FF2B5EF4-FFF2-40B4-BE49-F238E27FC236}">
                <a16:creationId xmlns:a16="http://schemas.microsoft.com/office/drawing/2014/main" id="{B253F822-C984-D83F-BA1C-FFC488F51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978" y="1527444"/>
            <a:ext cx="5760720" cy="309883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D71E3C3-E23F-7C63-2CDF-5D5DF19F16BA}"/>
              </a:ext>
            </a:extLst>
          </p:cNvPr>
          <p:cNvSpPr txBox="1"/>
          <p:nvPr/>
        </p:nvSpPr>
        <p:spPr>
          <a:xfrm>
            <a:off x="446275" y="3074347"/>
            <a:ext cx="5202706" cy="23185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zh-CN" sz="2000" b="1">
                <a:latin typeface="Times New Roman"/>
                <a:ea typeface="等线"/>
                <a:cs typeface="Times New Roman"/>
              </a:rPr>
              <a:t>Block:</a:t>
            </a:r>
            <a:r>
              <a:rPr lang="zh-CN" sz="2000">
                <a:latin typeface="Times New Roman"/>
                <a:ea typeface="等线"/>
                <a:cs typeface="Times New Roman"/>
              </a:rPr>
              <a:t> which group of seven positions an item belongs to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zh-CN" sz="2000" b="1">
                <a:latin typeface="Times New Roman"/>
                <a:ea typeface="等线"/>
                <a:cs typeface="Times New Roman"/>
              </a:rPr>
              <a:t>Within-block position:</a:t>
            </a:r>
            <a:r>
              <a:rPr lang="zh-CN" sz="2000">
                <a:latin typeface="Times New Roman"/>
                <a:ea typeface="等线"/>
                <a:cs typeface="Times New Roman"/>
              </a:rPr>
              <a:t> the item's position within that seven-position group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zh-CN" sz="2000">
                <a:latin typeface="Times New Roman"/>
                <a:ea typeface="等线"/>
                <a:cs typeface="Times New Roman"/>
              </a:rPr>
              <a:t>Positions </a:t>
            </a:r>
            <a:r>
              <a:rPr lang="zh-CN" sz="2000" b="1">
                <a:latin typeface="Times New Roman"/>
                <a:ea typeface="等线"/>
                <a:cs typeface="Times New Roman"/>
              </a:rPr>
              <a:t>6, 13, 20, 27, …</a:t>
            </a:r>
            <a:r>
              <a:rPr lang="zh-CN" sz="2000">
                <a:latin typeface="Times New Roman"/>
                <a:ea typeface="等线"/>
                <a:cs typeface="Times New Roman"/>
              </a:rPr>
              <a:t> all correspond to </a:t>
            </a:r>
            <a:r>
              <a:rPr lang="zh-CN" sz="2000" b="1">
                <a:latin typeface="Times New Roman"/>
                <a:ea typeface="等线"/>
                <a:cs typeface="Times New Roman"/>
              </a:rPr>
              <a:t>within-block position 6</a:t>
            </a:r>
            <a:endParaRPr lang="zh-CN" sz="2000">
              <a:latin typeface="Times New Roman"/>
              <a:ea typeface="等线"/>
              <a:cs typeface="Times New Roman"/>
            </a:endParaRPr>
          </a:p>
          <a:p>
            <a:pPr algn="l"/>
            <a:endParaRPr lang="zh-CN" altLang="en-US" sz="2000" dirty="0">
              <a:latin typeface="Times New Roman"/>
              <a:ea typeface="等线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5509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B37E82D-F38D-D5C3-78D5-0E1EF6B27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708" y="640080"/>
            <a:ext cx="5332661" cy="1481328"/>
          </a:xfrm>
        </p:spPr>
        <p:txBody>
          <a:bodyPr anchor="b">
            <a:normAutofit/>
          </a:bodyPr>
          <a:lstStyle/>
          <a:p>
            <a:r>
              <a:rPr lang="zh-CN" sz="3200">
                <a:latin typeface="Times New Roman"/>
                <a:ea typeface="+mj-lt"/>
                <a:cs typeface="Times New Roman"/>
              </a:rPr>
              <a:t>Commercial Content Alone Cannot Explain the CTR Dip</a:t>
            </a:r>
            <a:endParaRPr lang="zh-CN" sz="3200">
              <a:latin typeface="Times New Roman"/>
              <a:ea typeface="等线 Light"/>
              <a:cs typeface="Times New Roman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557B8A-3451-EE54-D5D2-D82B88C7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zh-CN" sz="2200">
                <a:latin typeface="Times New Roman"/>
                <a:ea typeface="+mn-lt"/>
                <a:cs typeface="Times New Roman"/>
              </a:rPr>
              <a:t>Removing commercial content did not eliminate the CTR dip.</a:t>
            </a:r>
            <a:endParaRPr lang="en-US" sz="2200">
              <a:latin typeface="Times New Roman"/>
              <a:ea typeface="+mn-lt"/>
              <a:cs typeface="Times New Roman"/>
            </a:endParaRPr>
          </a:p>
          <a:p>
            <a:r>
              <a:rPr lang="zh-CN" sz="2200">
                <a:latin typeface="Times New Roman"/>
                <a:ea typeface="+mn-lt"/>
                <a:cs typeface="Times New Roman"/>
              </a:rPr>
              <a:t>Therefore, commercial exposure alone is not sufficient to explain the </a:t>
            </a:r>
            <a:r>
              <a:rPr lang="zh-CN" sz="2200" dirty="0">
                <a:latin typeface="Times New Roman"/>
                <a:ea typeface="+mn-lt"/>
                <a:cs typeface="Times New Roman"/>
              </a:rPr>
              <a:t>recurring engagement penalty.</a:t>
            </a:r>
            <a:endParaRPr lang="en-US" sz="2200">
              <a:latin typeface="Times New Roman"/>
              <a:cs typeface="Times New Roman"/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45F95D7-E508-EE0C-A6AB-98DC33B1E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43544"/>
            <a:ext cx="5458968" cy="337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E2910-814D-080B-3D0F-A2D6C4DD2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sz="3200">
                <a:latin typeface="Times New Roman"/>
                <a:ea typeface="+mj-lt"/>
                <a:cs typeface="Times New Roman"/>
              </a:rPr>
              <a:t>logistic regression</a:t>
            </a:r>
            <a:endParaRPr lang="zh-CN" sz="3200">
              <a:latin typeface="Times New Roman"/>
              <a:ea typeface="等线 Light"/>
              <a:cs typeface="Times New Roman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C637CE-1404-FAD5-7205-E53EE6F64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dirty="0">
                <a:latin typeface="Times New Roman"/>
                <a:ea typeface="等线"/>
                <a:cs typeface="Times New Roman"/>
              </a:rPr>
              <a:t>M1: </a:t>
            </a:r>
            <a:r>
              <a:rPr lang="en-US" sz="1800" b="1" dirty="0" err="1">
                <a:latin typeface="Times New Roman"/>
                <a:ea typeface="等线"/>
                <a:cs typeface="Times New Roman"/>
              </a:rPr>
              <a:t>Click∼C</a:t>
            </a:r>
            <a:r>
              <a:rPr lang="en-US" sz="1800" b="1" dirty="0">
                <a:latin typeface="Times New Roman"/>
                <a:ea typeface="等线"/>
                <a:cs typeface="Times New Roman"/>
              </a:rPr>
              <a:t>(Block)+C(</a:t>
            </a:r>
            <a:r>
              <a:rPr lang="en-US" sz="1800" b="1" dirty="0" err="1">
                <a:latin typeface="Times New Roman"/>
                <a:ea typeface="等线"/>
                <a:cs typeface="Times New Roman"/>
              </a:rPr>
              <a:t>WithinBlockPosition</a:t>
            </a:r>
            <a:r>
              <a:rPr lang="en-US" sz="1800" b="1" dirty="0">
                <a:latin typeface="Times New Roman"/>
                <a:ea typeface="等线"/>
                <a:cs typeface="Times New Roman"/>
              </a:rPr>
              <a:t>)</a:t>
            </a: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Tests whether the sixth position within each seven-item block is associated with lower click probability.</a:t>
            </a:r>
            <a:endParaRPr lang="en-US" sz="1800" b="1" dirty="0">
              <a:latin typeface="Times New Roman"/>
              <a:ea typeface="+mn-lt"/>
              <a:cs typeface="Times New Roman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30A0B9-4CF0-899D-FAA8-0886C0F31231}"/>
              </a:ext>
            </a:extLst>
          </p:cNvPr>
          <p:cNvSpPr txBox="1"/>
          <p:nvPr/>
        </p:nvSpPr>
        <p:spPr>
          <a:xfrm>
            <a:off x="8158640" y="2998710"/>
            <a:ext cx="222738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b="1">
                <a:highlight>
                  <a:srgbClr val="FFFF00"/>
                </a:highlight>
                <a:latin typeface="Times New Roman"/>
                <a:ea typeface="+mn-lt"/>
                <a:cs typeface="Times New Roman"/>
              </a:rPr>
              <a:t>If the added controls fully explained the anomaly:</a:t>
            </a:r>
          </a:p>
          <a:p>
            <a:endParaRPr lang="zh-CN" b="1" dirty="0">
              <a:highlight>
                <a:srgbClr val="FFFF00"/>
              </a:highlight>
              <a:latin typeface="Times New Roman"/>
              <a:ea typeface="等线"/>
              <a:cs typeface="Times New Roman"/>
            </a:endParaRPr>
          </a:p>
          <a:p>
            <a:r>
              <a:rPr lang="zh-CN" altLang="en-US" b="1">
                <a:highlight>
                  <a:srgbClr val="FFFF00"/>
                </a:highlight>
                <a:latin typeface="Times New Roman"/>
                <a:ea typeface="等线"/>
                <a:cs typeface="Times New Roman"/>
              </a:rPr>
              <a:t>βslot -&gt; 0</a:t>
            </a:r>
            <a:endParaRPr lang="zh-CN" altLang="en-US" b="1">
              <a:highlight>
                <a:srgbClr val="FFFF00"/>
              </a:highlight>
              <a:latin typeface="Times New Roman"/>
              <a:ea typeface="等线" panose="02010600030101010101" pitchFamily="2" charset="-122"/>
              <a:cs typeface="Times New Roman"/>
            </a:endParaRPr>
          </a:p>
          <a:p>
            <a:r>
              <a:rPr lang="zh-CN" altLang="en-US" b="1">
                <a:highlight>
                  <a:srgbClr val="FFFF00"/>
                </a:highlight>
                <a:latin typeface="Times New Roman"/>
                <a:ea typeface="等线"/>
                <a:cs typeface="Times New Roman"/>
              </a:rPr>
              <a:t>ORslot -&gt; 1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4BD6C3-433A-9D73-1CDA-65FCAAEC47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6" r="61" b="27896"/>
          <a:stretch>
            <a:fillRect/>
          </a:stretch>
        </p:blipFill>
        <p:spPr>
          <a:xfrm>
            <a:off x="730944" y="2786497"/>
            <a:ext cx="7422391" cy="17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46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5AF1E-6D39-D554-19C7-A0006C9AC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/>
                <a:ea typeface="+mj-lt"/>
                <a:cs typeface="Times New Roman"/>
              </a:rPr>
              <a:t>cross-fitted candidate-quality measure</a:t>
            </a:r>
            <a:endParaRPr lang="zh-CN" altLang="en-US" sz="3200">
              <a:latin typeface="Times New Roman"/>
              <a:ea typeface="等线 Light"/>
              <a:cs typeface="Times New Roman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51AF72-4E91-1DFA-558C-7E68C04D5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44463" cy="44841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z="2000">
                <a:latin typeface="Times New Roman"/>
                <a:ea typeface="等线"/>
                <a:cs typeface="Times New Roman"/>
              </a:rPr>
              <a:t>Revised approach</a:t>
            </a:r>
            <a:endParaRPr lang="zh-CN" altLang="en-US" sz="2000">
              <a:latin typeface="Times New Roman"/>
              <a:ea typeface="等线" panose="02010600030101010101" pitchFamily="2" charset="-122"/>
              <a:cs typeface="Times New Roman"/>
            </a:endParaRPr>
          </a:p>
          <a:p>
            <a:r>
              <a:rPr lang="zh-CN" sz="2000">
                <a:latin typeface="Times New Roman"/>
                <a:ea typeface="等线"/>
                <a:cs typeface="Times New Roman"/>
              </a:rPr>
              <a:t>1. Predict expected click probability from position and context</a:t>
            </a:r>
          </a:p>
          <a:p>
            <a:endParaRPr lang="zh-CN" altLang="en-US" sz="2000" dirty="0">
              <a:latin typeface="Times New Roman"/>
              <a:ea typeface="等线"/>
              <a:cs typeface="Times New Roman"/>
            </a:endParaRPr>
          </a:p>
          <a:p>
            <a:r>
              <a:rPr lang="zh-CN" sz="2000">
                <a:latin typeface="Times New Roman"/>
                <a:ea typeface="等线"/>
                <a:cs typeface="Times New Roman"/>
              </a:rPr>
              <a:t>2. Measure performance relative to expectation</a:t>
            </a:r>
          </a:p>
          <a:p>
            <a:endParaRPr lang="zh-CN" altLang="en-US" sz="2000" dirty="0">
              <a:latin typeface="Times New Roman"/>
              <a:ea typeface="等线"/>
              <a:cs typeface="Times New Roman"/>
            </a:endParaRPr>
          </a:p>
          <a:p>
            <a:r>
              <a:rPr lang="zh-CN" sz="2000">
                <a:latin typeface="Times New Roman"/>
                <a:ea typeface="等线"/>
                <a:cs typeface="Times New Roman"/>
              </a:rPr>
              <a:t>3. Use cross-fitting</a:t>
            </a:r>
          </a:p>
          <a:p>
            <a:r>
              <a:rPr lang="zh-CN" sz="2000">
                <a:latin typeface="Times New Roman"/>
                <a:ea typeface="等线"/>
                <a:cs typeface="Times New Roman"/>
              </a:rPr>
              <a:t>Each observation is evaluated by a model that was not trained on that observation.</a:t>
            </a:r>
          </a:p>
          <a:p>
            <a:endParaRPr lang="zh-CN" altLang="en-US" sz="2000" dirty="0">
              <a:latin typeface="Aptos"/>
              <a:ea typeface="等线" panose="02010600030101010101" pitchFamily="2" charset="-122"/>
              <a:cs typeface="Times New Roman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754287-4F58-C3B4-252F-F834966D3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2612160"/>
            <a:ext cx="3920837" cy="4445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DBDC013-0059-7D05-BFE3-229ABFB94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632" y="3430154"/>
            <a:ext cx="3132282" cy="4479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99EDEC9-CA1D-5484-030B-915EA7EC2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055" y="4667972"/>
            <a:ext cx="4010891" cy="2192194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8BF14070-B4FD-7F29-F483-C29B40F7436D}"/>
              </a:ext>
            </a:extLst>
          </p:cNvPr>
          <p:cNvSpPr/>
          <p:nvPr/>
        </p:nvSpPr>
        <p:spPr>
          <a:xfrm>
            <a:off x="2362821" y="6308701"/>
            <a:ext cx="281384" cy="797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EBD855-1FD3-365F-618D-BC37D55D955A}"/>
              </a:ext>
            </a:extLst>
          </p:cNvPr>
          <p:cNvSpPr txBox="1"/>
          <p:nvPr/>
        </p:nvSpPr>
        <p:spPr>
          <a:xfrm>
            <a:off x="5782940" y="5105311"/>
            <a:ext cx="59521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>
                <a:highlight>
                  <a:srgbClr val="FFFF00"/>
                </a:highlight>
                <a:latin typeface="Times New Roman"/>
                <a:ea typeface="+mn-lt"/>
                <a:cs typeface="Times New Roman"/>
              </a:rPr>
              <a:t>The sixth slot may not only suffer from a positional disadvantage; it also appears to receive candidates with weaker position-adjusted out-of-sample performance.</a:t>
            </a:r>
            <a:endParaRPr lang="zh-CN">
              <a:highlight>
                <a:srgbClr val="FFFF00"/>
              </a:highlight>
              <a:latin typeface="Times New Roman"/>
              <a:ea typeface="等线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7941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A5067-7B71-8E4B-325E-0856FA79D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>
                <a:latin typeface="Times New Roman"/>
                <a:ea typeface="等线 Light"/>
                <a:cs typeface="Times New Roman"/>
              </a:rPr>
              <a:t>Conclusion and Implication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71F989-98B5-ABD9-937A-C6A7F0170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2000" b="1" dirty="0">
                <a:latin typeface="Times New Roman"/>
                <a:ea typeface="等线"/>
                <a:cs typeface="Times New Roman"/>
              </a:rPr>
              <a:t>Conclusion</a:t>
            </a:r>
            <a:endParaRPr lang="zh-CN" altLang="en-US" b="1" dirty="0">
              <a:latin typeface="Times New Roman"/>
              <a:ea typeface="等线"/>
              <a:cs typeface="Times New Roman"/>
            </a:endParaRPr>
          </a:p>
          <a:p>
            <a:r>
              <a:rPr lang="zh-CN" sz="2000">
                <a:latin typeface="Times New Roman"/>
                <a:ea typeface="+mn-lt"/>
                <a:cs typeface="Times New Roman"/>
              </a:rPr>
              <a:t>Commercial content partially explains the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recurring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sixth-slot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CTR</a:t>
            </a:r>
            <a:r>
              <a:rPr lang="zh-CN" sz="2000">
                <a:latin typeface="Times New Roman"/>
                <a:ea typeface="+mn-lt"/>
                <a:cs typeface="Times New Roman"/>
              </a:rPr>
              <a:t> penalty. </a:t>
            </a:r>
            <a:endParaRPr lang="zh-CN">
              <a:latin typeface="Times New Roman"/>
              <a:cs typeface="Times New Roman"/>
            </a:endParaRPr>
          </a:p>
          <a:p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O</a:t>
            </a:r>
            <a:r>
              <a:rPr lang="zh-CN" sz="2000">
                <a:latin typeface="Times New Roman"/>
                <a:ea typeface="+mn-lt"/>
                <a:cs typeface="Times New Roman"/>
              </a:rPr>
              <a:t>bservable content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and</a:t>
            </a:r>
            <a:r>
              <a:rPr lang="zh-CN" sz="2000">
                <a:latin typeface="Times New Roman"/>
                <a:ea typeface="+mn-lt"/>
                <a:cs typeface="Times New Roman"/>
              </a:rPr>
              <a:t> user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-context</a:t>
            </a:r>
            <a:r>
              <a:rPr lang="zh-CN" sz="2000">
                <a:latin typeface="Times New Roman"/>
                <a:ea typeface="+mn-lt"/>
                <a:cs typeface="Times New Roman"/>
              </a:rPr>
              <a:t> factors do not fully explain </a:t>
            </a:r>
            <a:r>
              <a:rPr lang="en-US" altLang="zh-CN" sz="2000" dirty="0" err="1">
                <a:latin typeface="Times New Roman"/>
                <a:ea typeface="+mn-lt"/>
                <a:cs typeface="Times New Roman"/>
              </a:rPr>
              <a:t>i</a:t>
            </a:r>
            <a:r>
              <a:rPr lang="zh-CN" sz="2000">
                <a:latin typeface="Times New Roman"/>
                <a:ea typeface="+mn-lt"/>
                <a:cs typeface="Times New Roman"/>
              </a:rPr>
              <a:t>t. </a:t>
            </a:r>
            <a:endParaRPr lang="zh-CN">
              <a:latin typeface="Times New Roman"/>
              <a:cs typeface="Times New Roman"/>
            </a:endParaRPr>
          </a:p>
          <a:p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S</a:t>
            </a:r>
            <a:r>
              <a:rPr lang="zh-CN" sz="2000">
                <a:latin typeface="Times New Roman"/>
                <a:ea typeface="+mn-lt"/>
                <a:cs typeface="Times New Roman"/>
              </a:rPr>
              <a:t>ixth-slot candidates show weaker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position-adjusted,</a:t>
            </a:r>
            <a:r>
              <a:rPr lang="zh-CN" sz="2000">
                <a:latin typeface="Times New Roman"/>
                <a:ea typeface="+mn-lt"/>
                <a:cs typeface="Times New Roman"/>
              </a:rPr>
              <a:t> out-of-sample performance than neighboring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candidates.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endParaRPr lang="zh-CN" dirty="0">
              <a:latin typeface="Times New Roman"/>
              <a:cs typeface="Times New Roman"/>
            </a:endParaRPr>
          </a:p>
          <a:p>
            <a:endParaRPr lang="zh-CN" altLang="en-US" sz="2000" dirty="0">
              <a:latin typeface="Times New Roman"/>
              <a:ea typeface="+mn-lt"/>
              <a:cs typeface="Times New Roman"/>
            </a:endParaRPr>
          </a:p>
          <a:p>
            <a:r>
              <a:rPr lang="en-US" altLang="zh-CN" sz="2000" b="1" dirty="0">
                <a:latin typeface="Times New Roman"/>
                <a:ea typeface="+mn-lt"/>
                <a:cs typeface="Times New Roman"/>
              </a:rPr>
              <a:t>Implication</a:t>
            </a:r>
            <a:endParaRPr lang="zh-CN" altLang="en-US" b="1">
              <a:latin typeface="Times New Roman"/>
              <a:ea typeface="等线"/>
              <a:cs typeface="Times New Roman"/>
            </a:endParaRPr>
          </a:p>
          <a:p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The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issue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may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involve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the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candidate</a:t>
            </a:r>
            <a:r>
              <a:rPr lang="zh-CN" sz="2000">
                <a:latin typeface="Times New Roman"/>
                <a:ea typeface="+mn-lt"/>
                <a:cs typeface="Times New Roman"/>
              </a:rPr>
              <a:t>-s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election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or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serving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mechanism,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not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only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ad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exposure.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endParaRPr lang="zh-CN" dirty="0">
              <a:latin typeface="Times New Roman"/>
              <a:cs typeface="Times New Roman"/>
            </a:endParaRPr>
          </a:p>
          <a:p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Product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teams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could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audit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these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s</a:t>
            </a:r>
            <a:r>
              <a:rPr lang="zh-CN" sz="2000">
                <a:latin typeface="Times New Roman"/>
                <a:ea typeface="+mn-lt"/>
                <a:cs typeface="Times New Roman"/>
              </a:rPr>
              <a:t>lot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s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and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use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A/B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tests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to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evaluate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alternative</a:t>
            </a:r>
            <a:r>
              <a:rPr lang="zh-CN" sz="2000">
                <a:latin typeface="Times New Roman"/>
                <a:ea typeface="+mn-lt"/>
                <a:cs typeface="Times New Roman"/>
              </a:rPr>
              <a:t> candidate</a:t>
            </a:r>
            <a:r>
              <a:rPr lang="en-US" altLang="zh-CN" sz="2000" dirty="0">
                <a:latin typeface="Times New Roman"/>
                <a:ea typeface="+mn-lt"/>
                <a:cs typeface="Times New Roman"/>
              </a:rPr>
              <a:t>-selection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altLang="zh-CN" sz="2000" dirty="0" err="1">
                <a:latin typeface="Times New Roman"/>
                <a:ea typeface="+mn-lt"/>
                <a:cs typeface="Times New Roman"/>
              </a:rPr>
              <a:t>strategie</a:t>
            </a:r>
            <a:r>
              <a:rPr lang="zh-CN" sz="2000">
                <a:latin typeface="Times New Roman"/>
                <a:ea typeface="+mn-lt"/>
                <a:cs typeface="Times New Roman"/>
              </a:rPr>
              <a:t>s.</a:t>
            </a:r>
            <a:endParaRPr lang="zh-CN">
              <a:latin typeface="Times New Roman"/>
              <a:cs typeface="Times New Roman"/>
            </a:endParaRPr>
          </a:p>
          <a:p>
            <a:endParaRPr lang="zh-CN" sz="2000" dirty="0">
              <a:latin typeface="Times New Roman"/>
              <a:ea typeface="等线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0635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7D41C-706F-7B7F-CB31-8ACAEFF3D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>
                <a:latin typeface="Times New Roman"/>
                <a:ea typeface="等线 Light"/>
                <a:cs typeface="Times New Roman"/>
              </a:rPr>
              <a:t>Reference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EBFF77-0A14-12B2-7A50-1E8C83A72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CN" sz="2000">
                <a:latin typeface="Times New Roman"/>
                <a:ea typeface="+mn-lt"/>
                <a:cs typeface="Times New Roman"/>
              </a:rPr>
              <a:t>Chen, J., Dong, Q., Li, H., He, X., Gao, Y., Cao, S., Wu, Y., Yang, P., Xu, C., Hu, Y., Ai, Q., &amp; Liu, Y. (2025). Qilin: A multimodal information retrieval dataset with APP-level user sessions. In N. Ferro, M. Maistro, G. Pasi, O. Alonso, A. Trotman, &amp; S. Verberne (Eds.), </a:t>
            </a:r>
            <a:r>
              <a:rPr lang="zh-CN" sz="2000" i="1">
                <a:latin typeface="Times New Roman"/>
                <a:ea typeface="+mn-lt"/>
                <a:cs typeface="Times New Roman"/>
              </a:rPr>
              <a:t>Proceedings of the 48th International ACM SIGIR Conference on Research and Development in Information Retrieval</a:t>
            </a:r>
            <a:r>
              <a:rPr lang="zh-CN" sz="2000">
                <a:latin typeface="Times New Roman"/>
                <a:ea typeface="+mn-lt"/>
                <a:cs typeface="Times New Roman"/>
              </a:rPr>
              <a:t> (pp. 3670–3680). Association for Computing Machinery. </a:t>
            </a:r>
            <a:r>
              <a:rPr lang="zh-CN" sz="2000" dirty="0">
                <a:latin typeface="Times New Roman"/>
                <a:ea typeface="+mn-lt"/>
                <a:cs typeface="Times New Roman"/>
              </a:rPr>
              <a:t>https://doi.org/10.1145/3726302.3730279 </a:t>
            </a:r>
            <a:endParaRPr lang="zh-CN" altLang="en-US" sz="2000">
              <a:latin typeface="Times New Roman"/>
              <a:ea typeface="等线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4158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Investigating a Recurring Click-Through Rate Anomaly in Xiaohongshu Recommendations</vt:lpstr>
      <vt:lpstr>PowerPoint 演示文稿</vt:lpstr>
      <vt:lpstr>Initial Evidence Supports the Commercial Hypothesis </vt:lpstr>
      <vt:lpstr>Recurring Seven Position Structure</vt:lpstr>
      <vt:lpstr>Commercial Content Alone Cannot Explain the CTR Dip</vt:lpstr>
      <vt:lpstr>logistic regression</vt:lpstr>
      <vt:lpstr>cross-fitted candidate-quality measure</vt:lpstr>
      <vt:lpstr>Conclusion and Implication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327</cp:revision>
  <dcterms:created xsi:type="dcterms:W3CDTF">2026-09-03T21:41:44Z</dcterms:created>
  <dcterms:modified xsi:type="dcterms:W3CDTF">2026-09-04T06:26:27Z</dcterms:modified>
</cp:coreProperties>
</file>